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62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70" r:id="rId12"/>
    <p:sldId id="273" r:id="rId13"/>
    <p:sldId id="274" r:id="rId14"/>
    <p:sldId id="267" r:id="rId15"/>
    <p:sldId id="271" r:id="rId16"/>
    <p:sldId id="272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3"/>
    <p:restoredTop sz="96327"/>
  </p:normalViewPr>
  <p:slideViewPr>
    <p:cSldViewPr snapToGrid="0">
      <p:cViewPr varScale="1">
        <p:scale>
          <a:sx n="113" d="100"/>
          <a:sy n="113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F656-053F-3A37-722A-77DB45602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TW" dirty="0"/>
              <a:t>Final Project Part1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EF1C2-D7F4-EB30-868C-A341F9975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黃得晉</a:t>
            </a:r>
            <a:r>
              <a:rPr lang="zh-TW" altLang="en-US" dirty="0"/>
              <a:t> </a:t>
            </a:r>
            <a:r>
              <a:rPr lang="en-US" altLang="zh-TW" dirty="0"/>
              <a:t>113352019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25990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2904-AA16-40A5-9EF3-7A862E38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資料選取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31276-BE4D-0ADA-519B-FB6CAD977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TW" dirty="0">
                <a:latin typeface="+mn-ea"/>
              </a:rPr>
              <a:t>從TEJ選取2025年3月還有資料的上市公司</a:t>
            </a:r>
            <a:endParaRPr lang="en-US" dirty="0">
              <a:latin typeface="+mn-ea"/>
            </a:endParaRPr>
          </a:p>
          <a:p>
            <a:r>
              <a:rPr lang="zh-TW" altLang="en-US" dirty="0">
                <a:latin typeface="+mn-ea"/>
              </a:rPr>
              <a:t>要求資料超過</a:t>
            </a:r>
            <a:r>
              <a:rPr lang="en-US" altLang="zh-TW" dirty="0">
                <a:latin typeface="+mn-ea"/>
              </a:rPr>
              <a:t>135</a:t>
            </a:r>
            <a:r>
              <a:rPr lang="zh-TW" altLang="en-US" dirty="0">
                <a:latin typeface="+mn-ea"/>
              </a:rPr>
              <a:t>筆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也就是說希望有超過</a:t>
            </a:r>
            <a:r>
              <a:rPr lang="en-US" altLang="zh-TW" dirty="0">
                <a:latin typeface="+mn-ea"/>
              </a:rPr>
              <a:t>11</a:t>
            </a:r>
            <a:r>
              <a:rPr lang="zh-TW" altLang="en-US" dirty="0">
                <a:latin typeface="+mn-ea"/>
              </a:rPr>
              <a:t>年的資料</a:t>
            </a:r>
            <a:r>
              <a:rPr lang="en-US" altLang="zh-TW" dirty="0">
                <a:latin typeface="+mn-ea"/>
              </a:rPr>
              <a:t>)</a:t>
            </a:r>
          </a:p>
          <a:p>
            <a:r>
              <a:rPr lang="zh-TW" altLang="en-US" dirty="0">
                <a:latin typeface="+mn-ea"/>
              </a:rPr>
              <a:t>最舊的資料是從</a:t>
            </a:r>
            <a:r>
              <a:rPr lang="en-US" altLang="zh-TW" dirty="0">
                <a:latin typeface="+mn-ea"/>
              </a:rPr>
              <a:t>2005</a:t>
            </a:r>
            <a:r>
              <a:rPr lang="zh-TW" altLang="en-US" dirty="0">
                <a:latin typeface="+mn-ea"/>
              </a:rPr>
              <a:t>年</a:t>
            </a:r>
            <a:r>
              <a:rPr lang="en-US" altLang="zh-TW" dirty="0">
                <a:latin typeface="+mn-ea"/>
              </a:rPr>
              <a:t>1</a:t>
            </a:r>
            <a:r>
              <a:rPr lang="zh-TW" altLang="en-US" dirty="0">
                <a:latin typeface="+mn-ea"/>
              </a:rPr>
              <a:t>月</a:t>
            </a:r>
            <a:endParaRPr lang="en-US" altLang="zh-TW" dirty="0">
              <a:latin typeface="+mn-ea"/>
            </a:endParaRPr>
          </a:p>
          <a:p>
            <a:r>
              <a:rPr lang="zh-TW" altLang="en-US" dirty="0">
                <a:latin typeface="+mn-ea"/>
              </a:rPr>
              <a:t>考慮的因子有</a:t>
            </a:r>
            <a:endParaRPr lang="en-US" altLang="zh-TW" dirty="0">
              <a:latin typeface="+mn-ea"/>
            </a:endParaRPr>
          </a:p>
          <a:p>
            <a:r>
              <a:rPr lang="zh-TW" altLang="en-US" dirty="0">
                <a:latin typeface="+mn-ea"/>
              </a:rPr>
              <a:t>收盤價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元</a:t>
            </a:r>
            <a:r>
              <a:rPr lang="en-US" altLang="zh-TW" dirty="0">
                <a:latin typeface="+mn-ea"/>
              </a:rPr>
              <a:t>)</a:t>
            </a:r>
            <a:r>
              <a:rPr lang="zh-TW" altLang="en-US" dirty="0">
                <a:latin typeface="+mn-ea"/>
              </a:rPr>
              <a:t>＿月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報酬率％＿月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週轉率</a:t>
            </a:r>
            <a:r>
              <a:rPr lang="en-US" altLang="zh-TW" dirty="0">
                <a:latin typeface="+mn-ea"/>
              </a:rPr>
              <a:t>%</a:t>
            </a:r>
            <a:r>
              <a:rPr lang="zh-TW" altLang="en-US" dirty="0">
                <a:latin typeface="+mn-ea"/>
              </a:rPr>
              <a:t>＿月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流通在外股數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千股</a:t>
            </a:r>
            <a:r>
              <a:rPr lang="en-US" altLang="zh-TW" dirty="0">
                <a:latin typeface="+mn-ea"/>
              </a:rPr>
              <a:t>), </a:t>
            </a:r>
            <a:r>
              <a:rPr lang="zh-TW" altLang="en-US" dirty="0">
                <a:latin typeface="+mn-ea"/>
              </a:rPr>
              <a:t>市值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百萬元</a:t>
            </a:r>
            <a:r>
              <a:rPr lang="en-US" altLang="zh-TW" dirty="0">
                <a:latin typeface="+mn-ea"/>
              </a:rPr>
              <a:t>), </a:t>
            </a:r>
            <a:r>
              <a:rPr lang="zh-TW" altLang="en-US" dirty="0">
                <a:latin typeface="+mn-ea"/>
              </a:rPr>
              <a:t>股價淨值比</a:t>
            </a:r>
            <a:r>
              <a:rPr lang="en-US" altLang="zh-TW" dirty="0">
                <a:latin typeface="+mn-ea"/>
              </a:rPr>
              <a:t>-TEJ, </a:t>
            </a:r>
            <a:r>
              <a:rPr lang="zh-TW" altLang="en-US" dirty="0">
                <a:latin typeface="+mn-ea"/>
              </a:rPr>
              <a:t>股價營收比</a:t>
            </a:r>
            <a:r>
              <a:rPr lang="en-US" altLang="zh-TW" dirty="0">
                <a:latin typeface="+mn-ea"/>
              </a:rPr>
              <a:t>-TEJ,</a:t>
            </a:r>
            <a:r>
              <a:rPr lang="zh-TW" altLang="en-US" dirty="0">
                <a:latin typeface="+mn-ea"/>
              </a:rPr>
              <a:t> 成交值比重</a:t>
            </a:r>
            <a:r>
              <a:rPr lang="en-US" altLang="zh-TW" dirty="0">
                <a:latin typeface="+mn-ea"/>
              </a:rPr>
              <a:t>%, </a:t>
            </a:r>
            <a:r>
              <a:rPr lang="zh-TW" altLang="en-US" dirty="0">
                <a:latin typeface="+mn-ea"/>
              </a:rPr>
              <a:t>成交量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百萬股</a:t>
            </a:r>
            <a:r>
              <a:rPr lang="en-US" altLang="zh-TW" dirty="0">
                <a:latin typeface="+mn-ea"/>
              </a:rPr>
              <a:t>)</a:t>
            </a:r>
            <a:r>
              <a:rPr lang="zh-TW" altLang="en-US" dirty="0">
                <a:latin typeface="+mn-ea"/>
              </a:rPr>
              <a:t>＿月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成交值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百萬元</a:t>
            </a:r>
            <a:r>
              <a:rPr lang="en-US" altLang="zh-TW" dirty="0">
                <a:latin typeface="+mn-ea"/>
              </a:rPr>
              <a:t>)</a:t>
            </a:r>
            <a:r>
              <a:rPr lang="zh-TW" altLang="en-US" dirty="0">
                <a:latin typeface="+mn-ea"/>
              </a:rPr>
              <a:t>＿月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市值比重</a:t>
            </a:r>
            <a:r>
              <a:rPr lang="en-US" altLang="zh-TW" dirty="0">
                <a:latin typeface="+mn-ea"/>
              </a:rPr>
              <a:t>%, </a:t>
            </a:r>
            <a:r>
              <a:rPr lang="zh-TW" altLang="en-US" dirty="0">
                <a:latin typeface="+mn-ea"/>
              </a:rPr>
              <a:t>高低價差</a:t>
            </a:r>
            <a:r>
              <a:rPr lang="en-US" altLang="zh-TW" dirty="0">
                <a:latin typeface="+mn-ea"/>
              </a:rPr>
              <a:t>%, </a:t>
            </a:r>
            <a:r>
              <a:rPr lang="zh-TW" altLang="en-US" dirty="0">
                <a:latin typeface="+mn-ea"/>
              </a:rPr>
              <a:t>股價漲跌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元</a:t>
            </a:r>
            <a:r>
              <a:rPr lang="en-US" altLang="zh-TW" dirty="0">
                <a:latin typeface="+mn-ea"/>
              </a:rPr>
              <a:t>)</a:t>
            </a:r>
          </a:p>
          <a:p>
            <a:r>
              <a:rPr lang="zh-TW" altLang="en-US" dirty="0">
                <a:latin typeface="+mn-ea"/>
              </a:rPr>
              <a:t>如果資料有連續三個月的資料出現</a:t>
            </a:r>
            <a:r>
              <a:rPr lang="en-US" altLang="zh-TW" dirty="0" err="1">
                <a:latin typeface="+mn-ea"/>
              </a:rPr>
              <a:t>NaN</a:t>
            </a:r>
            <a:r>
              <a:rPr lang="zh-TW" altLang="en-US" dirty="0">
                <a:latin typeface="+mn-ea"/>
              </a:rPr>
              <a:t>也踢除</a:t>
            </a:r>
            <a:endParaRPr lang="en-US" altLang="zh-TW" dirty="0">
              <a:latin typeface="+mn-ea"/>
            </a:endParaRPr>
          </a:p>
          <a:p>
            <a:r>
              <a:rPr lang="zh-TW" altLang="en-US" dirty="0">
                <a:latin typeface="+mn-ea"/>
              </a:rPr>
              <a:t>最後總共有</a:t>
            </a:r>
            <a:r>
              <a:rPr lang="en-US" altLang="zh-TW" dirty="0">
                <a:latin typeface="+mn-ea"/>
              </a:rPr>
              <a:t>141</a:t>
            </a:r>
            <a:r>
              <a:rPr lang="zh-TW" altLang="en-US" dirty="0">
                <a:latin typeface="+mn-ea"/>
              </a:rPr>
              <a:t>家公司符合</a:t>
            </a:r>
            <a:endParaRPr lang="en-US" altLang="zh-TW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7442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6DBD-9C93-875B-71C5-DA52CF05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超參數選取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91FB0-F972-1E27-B03C-D3047EE9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TW" dirty="0"/>
              <a:t>Linear: Ridge</a:t>
            </a:r>
          </a:p>
          <a:p>
            <a:r>
              <a:rPr lang="en-US" dirty="0"/>
              <a:t>L</a:t>
            </a:r>
            <a:r>
              <a:rPr lang="en-TW" dirty="0"/>
              <a:t>earning rate :  0.01, 0.05, 0.1, 0.5, 1.0, 5.0, 10.0</a:t>
            </a:r>
          </a:p>
          <a:p>
            <a:endParaRPr lang="en-TW" dirty="0"/>
          </a:p>
          <a:p>
            <a:r>
              <a:rPr lang="en-TW" dirty="0"/>
              <a:t>Non-linear : XGBoost</a:t>
            </a:r>
          </a:p>
          <a:p>
            <a:r>
              <a:rPr lang="en-TW" dirty="0"/>
              <a:t>Hyperparemeter : </a:t>
            </a:r>
          </a:p>
          <a:p>
            <a:pPr>
              <a:lnSpc>
                <a:spcPct val="110000"/>
              </a:lnSpc>
            </a:pPr>
            <a:r>
              <a:rPr lang="en-US" dirty="0"/>
              <a:t>max depth :  [3 ,  4 ,  5 ,  6 ,  7]</a:t>
            </a:r>
          </a:p>
          <a:p>
            <a:pPr>
              <a:lnSpc>
                <a:spcPct val="110000"/>
              </a:lnSpc>
            </a:pPr>
            <a:r>
              <a:rPr lang="en-US" dirty="0"/>
              <a:t>learning rate :  [0.01 ,  0.05 ,  0.1 ,  0.5 , 1.0]</a:t>
            </a:r>
          </a:p>
          <a:p>
            <a:pPr>
              <a:lnSpc>
                <a:spcPct val="110000"/>
              </a:lnSpc>
            </a:pPr>
            <a:r>
              <a:rPr lang="en-US" dirty="0"/>
              <a:t>n estimators :  [100 , 200 , 300]</a:t>
            </a:r>
          </a:p>
          <a:p>
            <a:endParaRPr lang="en-TW" dirty="0"/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88805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F606-E212-7548-C516-E49A3F41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112C5-D409-1424-5292-7110C7235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4" y="2355822"/>
            <a:ext cx="7729728" cy="3101983"/>
          </a:xfrm>
        </p:spPr>
        <p:txBody>
          <a:bodyPr>
            <a:normAutofit/>
          </a:bodyPr>
          <a:lstStyle/>
          <a:p>
            <a:r>
              <a:rPr lang="en-US" dirty="0"/>
              <a:t>Ridge Portfolio Statistics 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XGBoost</a:t>
            </a:r>
            <a:r>
              <a:rPr lang="en-US" dirty="0"/>
              <a:t> Portfolio Statistics 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5074D98-E11C-6A58-65A0-A2ED7335F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578525"/>
              </p:ext>
            </p:extLst>
          </p:nvPr>
        </p:nvGraphicFramePr>
        <p:xfrm>
          <a:off x="2231136" y="2774241"/>
          <a:ext cx="7729730" cy="1463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86020">
                  <a:extLst>
                    <a:ext uri="{9D8B030D-6E8A-4147-A177-3AD203B41FA5}">
                      <a16:colId xmlns:a16="http://schemas.microsoft.com/office/drawing/2014/main" val="1561322893"/>
                    </a:ext>
                  </a:extLst>
                </a:gridCol>
                <a:gridCol w="1332088">
                  <a:extLst>
                    <a:ext uri="{9D8B030D-6E8A-4147-A177-3AD203B41FA5}">
                      <a16:colId xmlns:a16="http://schemas.microsoft.com/office/drawing/2014/main" val="2563489207"/>
                    </a:ext>
                  </a:extLst>
                </a:gridCol>
                <a:gridCol w="1332089">
                  <a:extLst>
                    <a:ext uri="{9D8B030D-6E8A-4147-A177-3AD203B41FA5}">
                      <a16:colId xmlns:a16="http://schemas.microsoft.com/office/drawing/2014/main" val="14098392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7783206"/>
                    </a:ext>
                  </a:extLst>
                </a:gridCol>
                <a:gridCol w="1324866">
                  <a:extLst>
                    <a:ext uri="{9D8B030D-6E8A-4147-A177-3AD203B41FA5}">
                      <a16:colId xmlns:a16="http://schemas.microsoft.com/office/drawing/2014/main" val="2015322818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D4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59488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TW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16.221150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10.920330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11.391745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11.472864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772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US" dirty="0"/>
                        <a:t>Volatility</a:t>
                      </a:r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73.685062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47.450664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46.736275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39.513742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7222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US" dirty="0"/>
                        <a:t>Mean-to-Volatility Ratio</a:t>
                      </a:r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0.220142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0.230141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0.243745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0.290351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13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F55987-A556-3EA6-B07D-F0C902232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47152"/>
              </p:ext>
            </p:extLst>
          </p:nvPr>
        </p:nvGraphicFramePr>
        <p:xfrm>
          <a:off x="2231134" y="4802986"/>
          <a:ext cx="7729730" cy="1463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86020">
                  <a:extLst>
                    <a:ext uri="{9D8B030D-6E8A-4147-A177-3AD203B41FA5}">
                      <a16:colId xmlns:a16="http://schemas.microsoft.com/office/drawing/2014/main" val="1561322893"/>
                    </a:ext>
                  </a:extLst>
                </a:gridCol>
                <a:gridCol w="1343383">
                  <a:extLst>
                    <a:ext uri="{9D8B030D-6E8A-4147-A177-3AD203B41FA5}">
                      <a16:colId xmlns:a16="http://schemas.microsoft.com/office/drawing/2014/main" val="2563489207"/>
                    </a:ext>
                  </a:extLst>
                </a:gridCol>
                <a:gridCol w="1332089">
                  <a:extLst>
                    <a:ext uri="{9D8B030D-6E8A-4147-A177-3AD203B41FA5}">
                      <a16:colId xmlns:a16="http://schemas.microsoft.com/office/drawing/2014/main" val="140983929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7783206"/>
                    </a:ext>
                  </a:extLst>
                </a:gridCol>
                <a:gridCol w="1313571">
                  <a:extLst>
                    <a:ext uri="{9D8B030D-6E8A-4147-A177-3AD203B41FA5}">
                      <a16:colId xmlns:a16="http://schemas.microsoft.com/office/drawing/2014/main" val="2015322818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D4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59488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TW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14.771026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12.511896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10.340045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12.401117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772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US" dirty="0"/>
                        <a:t>Volatility</a:t>
                      </a:r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60.156113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44.503196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45.112754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57.708179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7222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US" dirty="0"/>
                        <a:t>Mean-to-Volatility Ratio</a:t>
                      </a:r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0.245545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0.281146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0.229204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0.214894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1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453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F606-E212-7548-C516-E49A3F41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9505ED-F530-8C9F-E46E-965C50F35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244" y="2647417"/>
            <a:ext cx="5881511" cy="40440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784431-7CCB-1B44-FC54-6BA0EAC40BA1}"/>
              </a:ext>
            </a:extLst>
          </p:cNvPr>
          <p:cNvSpPr txBox="1"/>
          <p:nvPr/>
        </p:nvSpPr>
        <p:spPr>
          <a:xfrm>
            <a:off x="2560544" y="2258115"/>
            <a:ext cx="7070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Do the portfolio returns exhibit monotonic decreasing performance?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08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F606-E212-7548-C516-E49A3F41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7112C5-D409-1424-5292-7110C72357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1136" y="2367108"/>
                <a:ext cx="7729728" cy="310198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RLS Statistics Comparison 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Does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𝐿𝑆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of non-linear model have greater mean and mean-to-vol ratio than those of linear model?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Helvetica" pitchFamily="2" charset="0"/>
                  </a:rPr>
                  <a:t>I think the answer is No.</a:t>
                </a:r>
                <a:endParaRPr lang="en-US" dirty="0">
                  <a:solidFill>
                    <a:srgbClr val="000000"/>
                  </a:solidFill>
                  <a:effectLst/>
                  <a:latin typeface="Helvetica" pitchFamily="2" charset="0"/>
                </a:endParaRPr>
              </a:p>
              <a:p>
                <a:endParaRPr lang="en-TW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7112C5-D409-1424-5292-7110C72357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1136" y="2367108"/>
                <a:ext cx="7729728" cy="3101983"/>
              </a:xfrm>
              <a:blipFill>
                <a:blip r:embed="rId2"/>
                <a:stretch>
                  <a:fillRect l="-492" t="-816" b="-163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08731C-1C70-0386-8FBA-6A12DBC36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347636"/>
              </p:ext>
            </p:extLst>
          </p:nvPr>
        </p:nvGraphicFramePr>
        <p:xfrm>
          <a:off x="2032000" y="2769669"/>
          <a:ext cx="8127999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720005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043975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33302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9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4.748285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2.369910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13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Volatility</a:t>
                      </a:r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52.919604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45.964640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36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Mean-to-Volatility Ratio</a:t>
                      </a:r>
                      <a:endParaRPr lang="en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0.089726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0.051559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81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73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A1A28-3788-877F-7C02-ACFD8E44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596B7-0B67-F6FF-A624-075A33D33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1136" y="2276796"/>
                <a:ext cx="7729728" cy="310198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Do the long-short portfolio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𝐿𝑆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of both models beat the simple average portfolio returns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𝑠𝑖𝑚𝑝𝑙𝑒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Helvetica" pitchFamily="2" charset="0"/>
                  </a:rPr>
                  <a:t>?</a:t>
                </a:r>
              </a:p>
              <a:p>
                <a:endParaRPr lang="en-US" dirty="0">
                  <a:solidFill>
                    <a:srgbClr val="000000"/>
                  </a:solidFill>
                  <a:effectLst/>
                  <a:latin typeface="Helvetica" pitchFamily="2" charset="0"/>
                </a:endParaRPr>
              </a:p>
              <a:p>
                <a:endParaRPr lang="en-TW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596B7-0B67-F6FF-A624-075A33D33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1136" y="2276796"/>
                <a:ext cx="7729728" cy="3101983"/>
              </a:xfrm>
              <a:blipFill>
                <a:blip r:embed="rId2"/>
                <a:stretch>
                  <a:fillRect l="-492" t="-816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1E19176-6239-01AE-0F10-2EC86E075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714" y="3067752"/>
            <a:ext cx="5018572" cy="322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8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43A9-99C8-788C-7268-AC45EC64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C90978B-9FA4-36F9-CFDC-064B9F9F8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531451"/>
                  </p:ext>
                </p:extLst>
              </p:nvPr>
            </p:nvGraphicFramePr>
            <p:xfrm>
              <a:off x="1388534" y="2886569"/>
              <a:ext cx="9414932" cy="205457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50833">
                      <a:extLst>
                        <a:ext uri="{9D8B030D-6E8A-4147-A177-3AD203B41FA5}">
                          <a16:colId xmlns:a16="http://schemas.microsoft.com/office/drawing/2014/main" val="3748210574"/>
                        </a:ext>
                      </a:extLst>
                    </a:gridCol>
                    <a:gridCol w="1488558">
                      <a:extLst>
                        <a:ext uri="{9D8B030D-6E8A-4147-A177-3AD203B41FA5}">
                          <a16:colId xmlns:a16="http://schemas.microsoft.com/office/drawing/2014/main" val="532285658"/>
                        </a:ext>
                      </a:extLst>
                    </a:gridCol>
                    <a:gridCol w="2485243">
                      <a:extLst>
                        <a:ext uri="{9D8B030D-6E8A-4147-A177-3AD203B41FA5}">
                          <a16:colId xmlns:a16="http://schemas.microsoft.com/office/drawing/2014/main" val="1549961009"/>
                        </a:ext>
                      </a:extLst>
                    </a:gridCol>
                    <a:gridCol w="1501502">
                      <a:extLst>
                        <a:ext uri="{9D8B030D-6E8A-4147-A177-3AD203B41FA5}">
                          <a16:colId xmlns:a16="http://schemas.microsoft.com/office/drawing/2014/main" val="1455395986"/>
                        </a:ext>
                      </a:extLst>
                    </a:gridCol>
                    <a:gridCol w="2588796">
                      <a:extLst>
                        <a:ext uri="{9D8B030D-6E8A-4147-A177-3AD203B41FA5}">
                          <a16:colId xmlns:a16="http://schemas.microsoft.com/office/drawing/2014/main" val="23689101"/>
                        </a:ext>
                      </a:extLst>
                    </a:gridCol>
                  </a:tblGrid>
                  <a:tr h="463674"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Hyperparameters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Hyperparameters</a:t>
                          </a:r>
                          <a:endParaRPr lang="en-TW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8922871"/>
                      </a:ext>
                    </a:extLst>
                  </a:tr>
                  <a:tr h="45903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Ridge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2021-04-01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10.0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2021-05-01 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10.0</a:t>
                          </a:r>
                          <a:endParaRPr lang="en-TW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253902"/>
                      </a:ext>
                    </a:extLst>
                  </a:tr>
                  <a:tr h="1131869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XGBoost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2021-04-01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depth : 6  </a:t>
                          </a:r>
                        </a:p>
                        <a:p>
                          <a:r>
                            <a:rPr lang="en-US" dirty="0"/>
                            <a:t>learning rate : 0.1</a:t>
                          </a:r>
                        </a:p>
                        <a:p>
                          <a:r>
                            <a:rPr lang="en-US" dirty="0"/>
                            <a:t>n estimators : 300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2020-04-01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depth : 7  </a:t>
                          </a:r>
                        </a:p>
                        <a:p>
                          <a:r>
                            <a:rPr lang="en-US" dirty="0"/>
                            <a:t>learning rate : 0.1</a:t>
                          </a:r>
                        </a:p>
                        <a:p>
                          <a:r>
                            <a:rPr lang="en-US" dirty="0"/>
                            <a:t>n estimators : 300</a:t>
                          </a:r>
                          <a:endParaRPr lang="en-TW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73899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C90978B-9FA4-36F9-CFDC-064B9F9F8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531451"/>
                  </p:ext>
                </p:extLst>
              </p:nvPr>
            </p:nvGraphicFramePr>
            <p:xfrm>
              <a:off x="1388534" y="2886569"/>
              <a:ext cx="9414932" cy="205457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50833">
                      <a:extLst>
                        <a:ext uri="{9D8B030D-6E8A-4147-A177-3AD203B41FA5}">
                          <a16:colId xmlns:a16="http://schemas.microsoft.com/office/drawing/2014/main" val="3748210574"/>
                        </a:ext>
                      </a:extLst>
                    </a:gridCol>
                    <a:gridCol w="1488558">
                      <a:extLst>
                        <a:ext uri="{9D8B030D-6E8A-4147-A177-3AD203B41FA5}">
                          <a16:colId xmlns:a16="http://schemas.microsoft.com/office/drawing/2014/main" val="532285658"/>
                        </a:ext>
                      </a:extLst>
                    </a:gridCol>
                    <a:gridCol w="2485243">
                      <a:extLst>
                        <a:ext uri="{9D8B030D-6E8A-4147-A177-3AD203B41FA5}">
                          <a16:colId xmlns:a16="http://schemas.microsoft.com/office/drawing/2014/main" val="1549961009"/>
                        </a:ext>
                      </a:extLst>
                    </a:gridCol>
                    <a:gridCol w="1501502">
                      <a:extLst>
                        <a:ext uri="{9D8B030D-6E8A-4147-A177-3AD203B41FA5}">
                          <a16:colId xmlns:a16="http://schemas.microsoft.com/office/drawing/2014/main" val="1455395986"/>
                        </a:ext>
                      </a:extLst>
                    </a:gridCol>
                    <a:gridCol w="2588796">
                      <a:extLst>
                        <a:ext uri="{9D8B030D-6E8A-4147-A177-3AD203B41FA5}">
                          <a16:colId xmlns:a16="http://schemas.microsoft.com/office/drawing/2014/main" val="23689101"/>
                        </a:ext>
                      </a:extLst>
                    </a:gridCol>
                  </a:tblGrid>
                  <a:tr h="463674"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>
                        <a:blipFill>
                          <a:blip r:embed="rId2"/>
                          <a:stretch>
                            <a:fillRect l="-90678" t="-5405" r="-440678" b="-343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Hyperparameters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>
                        <a:blipFill>
                          <a:blip r:embed="rId2"/>
                          <a:stretch>
                            <a:fillRect l="-356780" t="-5405" r="-174576" b="-343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Hyperparameters</a:t>
                          </a:r>
                          <a:endParaRPr lang="en-TW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8922871"/>
                      </a:ext>
                    </a:extLst>
                  </a:tr>
                  <a:tr h="45903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Ridge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2021-04-01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10.0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2021-05-01 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10.0</a:t>
                          </a:r>
                          <a:endParaRPr lang="en-TW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253902"/>
                      </a:ext>
                    </a:extLst>
                  </a:tr>
                  <a:tr h="1131869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XGBoost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2021-04-01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depth : 6  </a:t>
                          </a:r>
                        </a:p>
                        <a:p>
                          <a:r>
                            <a:rPr lang="en-US" dirty="0"/>
                            <a:t>learning rate : 0.1</a:t>
                          </a:r>
                        </a:p>
                        <a:p>
                          <a:r>
                            <a:rPr lang="en-US" dirty="0"/>
                            <a:t>n estimators : 300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2020-04-01</a:t>
                          </a:r>
                          <a:endParaRPr lang="en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depth : 7  </a:t>
                          </a:r>
                        </a:p>
                        <a:p>
                          <a:r>
                            <a:rPr lang="en-US" dirty="0"/>
                            <a:t>learning rate : 0.1</a:t>
                          </a:r>
                        </a:p>
                        <a:p>
                          <a:r>
                            <a:rPr lang="en-US" dirty="0"/>
                            <a:t>n estimators : 300</a:t>
                          </a:r>
                          <a:endParaRPr lang="en-TW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73899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098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629D-6E7D-DDD7-0F65-A292A261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2F50C-2FDC-199C-921F-8B0CA1FEE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20354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SHAP</a:t>
            </a:r>
            <a:r>
              <a:rPr lang="zh-TW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effectLst/>
                <a:latin typeface="Helvetica" pitchFamily="2" charset="0"/>
              </a:rPr>
              <a:t>for Ridge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17BE2-59EE-A3A6-5C22-906D7A54A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91" y="2616121"/>
            <a:ext cx="4672483" cy="390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DFFDA9-7688-2919-BABD-3F14AD92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028" y="2616121"/>
            <a:ext cx="4708180" cy="3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16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6902-3C3D-3268-AE09-3E8D97F7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73807-E891-8255-69B8-8EEBCBEFD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65511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permutation-based</a:t>
            </a:r>
            <a:r>
              <a:rPr lang="zh-TW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effectLst/>
                <a:latin typeface="Helvetica" pitchFamily="2" charset="0"/>
              </a:rPr>
              <a:t>for Ridge</a:t>
            </a:r>
            <a:endParaRPr lang="en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1E831-89E5-9090-9641-983EDFF1D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2831339"/>
            <a:ext cx="88138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6902-3C3D-3268-AE09-3E8D97F7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73807-E891-8255-69B8-8EEBCBEFD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65511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permutation-based</a:t>
            </a:r>
            <a:r>
              <a:rPr lang="zh-TW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effectLst/>
                <a:latin typeface="Helvetica" pitchFamily="2" charset="0"/>
              </a:rPr>
              <a:t>for Ridge</a:t>
            </a:r>
            <a:endParaRPr lang="en-T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B8140-0A40-19C3-02D7-8A6F71A34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2831339"/>
            <a:ext cx="88138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96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6398-76D0-A581-FB23-91EFE1CF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B1A2-8E48-7704-A14E-042239FB7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99377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For the most important predictors, show the PDP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E54837-FC76-E695-9E87-7AD657FAD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23" y="2911789"/>
            <a:ext cx="4847877" cy="358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25DB8B-8338-04C1-BC5B-65DA4B5B3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682" y="2911789"/>
            <a:ext cx="4847878" cy="35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09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6398-76D0-A581-FB23-91EFE1CF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B1A2-8E48-7704-A14E-042239FB7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99377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For the most important predictors, show the PDP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A1A89-771D-DC6E-E6CE-9B84D733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22" y="2911789"/>
            <a:ext cx="4847878" cy="3585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4FFF00-3981-D120-6B11-2C1EAA3E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681" y="2912160"/>
            <a:ext cx="4847877" cy="35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3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2F814-3EE6-1895-CAC1-51B04B99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BC83E-253A-BF86-F262-3878C2B56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54219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SHAP</a:t>
            </a:r>
            <a:r>
              <a:rPr lang="zh-TW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effectLst/>
                <a:latin typeface="Helvetica" pitchFamily="2" charset="0"/>
              </a:rPr>
              <a:t>for </a:t>
            </a:r>
            <a:r>
              <a:rPr lang="en-US" altLang="zh-TW" dirty="0" err="1">
                <a:solidFill>
                  <a:srgbClr val="000000"/>
                </a:solidFill>
                <a:effectLst/>
                <a:latin typeface="Helvetica" pitchFamily="2" charset="0"/>
              </a:rPr>
              <a:t>XGBoost</a:t>
            </a: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7A015-B5E5-9932-F589-6C9C34176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35" y="2672727"/>
            <a:ext cx="4688431" cy="390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9F56A9-CE43-3416-5760-374CF31AF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036" y="2675678"/>
            <a:ext cx="4681188" cy="390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78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6902-3C3D-3268-AE09-3E8D97F7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73807-E891-8255-69B8-8EEBCBEFD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65511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permutation-based</a:t>
            </a:r>
            <a:r>
              <a:rPr lang="zh-TW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effectLst/>
                <a:latin typeface="Helvetica" pitchFamily="2" charset="0"/>
              </a:rPr>
              <a:t>for </a:t>
            </a:r>
            <a:r>
              <a:rPr lang="en-US" altLang="zh-TW" dirty="0" err="1">
                <a:solidFill>
                  <a:srgbClr val="000000"/>
                </a:solidFill>
                <a:effectLst/>
                <a:latin typeface="Helvetica" pitchFamily="2" charset="0"/>
              </a:rPr>
              <a:t>XGBoost</a:t>
            </a:r>
            <a:endParaRPr lang="en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02EFF-E056-F6C6-11B1-9D136785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2831339"/>
            <a:ext cx="88138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27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6902-3C3D-3268-AE09-3E8D97F7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73807-E891-8255-69B8-8EEBCBEFD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65511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permutation-based</a:t>
            </a:r>
            <a:r>
              <a:rPr lang="zh-TW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effectLst/>
                <a:latin typeface="Helvetica" pitchFamily="2" charset="0"/>
              </a:rPr>
              <a:t>for </a:t>
            </a:r>
            <a:r>
              <a:rPr lang="en-US" altLang="zh-TW" dirty="0" err="1">
                <a:solidFill>
                  <a:srgbClr val="000000"/>
                </a:solidFill>
                <a:effectLst/>
                <a:latin typeface="Helvetica" pitchFamily="2" charset="0"/>
              </a:rPr>
              <a:t>XGBoost</a:t>
            </a:r>
            <a:endParaRPr lang="en-T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89E9E-0E57-FEE0-0256-873EE1DF9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2831339"/>
            <a:ext cx="88138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34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6398-76D0-A581-FB23-91EFE1CF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B1A2-8E48-7704-A14E-042239FB7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99377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For the most important predictors, show the PDP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FB49D5-20AB-783B-16E5-9211C7F24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563" y="2912159"/>
            <a:ext cx="4939346" cy="3585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0C9381-7DFD-1278-724A-0B584305B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35" y="2912158"/>
            <a:ext cx="4842001" cy="357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36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6398-76D0-A581-FB23-91EFE1CF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數值結果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B1A2-8E48-7704-A14E-042239FB7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99377"/>
            <a:ext cx="7729728" cy="310198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For the most important predictors, show the PDP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8B4EE-8C2D-A0D8-DE34-991C00DB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23" y="2912160"/>
            <a:ext cx="4847877" cy="358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794ECF-DFA2-6A26-24F0-36D847A06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982" y="2912159"/>
            <a:ext cx="4847876" cy="357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0460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3869</TotalTime>
  <Words>422</Words>
  <Application>Microsoft Macintosh PowerPoint</Application>
  <PresentationFormat>Widescreen</PresentationFormat>
  <Paragraphs>126</Paragraphs>
  <Slides>18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微軟正黑體</vt:lpstr>
      <vt:lpstr>Arial</vt:lpstr>
      <vt:lpstr>Cambria Math</vt:lpstr>
      <vt:lpstr>Gill Sans MT</vt:lpstr>
      <vt:lpstr>Helvetica</vt:lpstr>
      <vt:lpstr>Parcel</vt:lpstr>
      <vt:lpstr>Final Project Part1</vt:lpstr>
      <vt:lpstr>資料選取</vt:lpstr>
      <vt:lpstr>超參數選取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  <vt:lpstr>數值結果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Part1</dc:title>
  <dc:creator>得晉 黃</dc:creator>
  <cp:lastModifiedBy>得晉 黃</cp:lastModifiedBy>
  <cp:revision>6</cp:revision>
  <dcterms:created xsi:type="dcterms:W3CDTF">2025-05-27T17:52:18Z</dcterms:created>
  <dcterms:modified xsi:type="dcterms:W3CDTF">2025-06-18T11:24:43Z</dcterms:modified>
</cp:coreProperties>
</file>